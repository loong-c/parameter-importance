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2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6.xml"/><Relationship Id="rId7" Type="http://schemas.openxmlformats.org/officeDocument/2006/relationships/image" Target="../media/image1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20.xml"/><Relationship Id="rId7" Type="http://schemas.openxmlformats.org/officeDocument/2006/relationships/image" Target="../media/image19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3.png"/><Relationship Id="rId5" Type="http://schemas.openxmlformats.org/officeDocument/2006/relationships/tags" Target="../tags/tag22.xml"/><Relationship Id="rId10" Type="http://schemas.openxmlformats.org/officeDocument/2006/relationships/image" Target="../media/image22.png"/><Relationship Id="rId4" Type="http://schemas.openxmlformats.org/officeDocument/2006/relationships/tags" Target="../tags/tag21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5.xml"/><Relationship Id="rId7" Type="http://schemas.openxmlformats.org/officeDocument/2006/relationships/image" Target="../media/image2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.xml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33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2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31.png"/><Relationship Id="rId5" Type="http://schemas.openxmlformats.org/officeDocument/2006/relationships/tags" Target="../tags/tag32.xml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tags" Target="../tags/tag31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9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38.png"/><Relationship Id="rId5" Type="http://schemas.openxmlformats.org/officeDocument/2006/relationships/tags" Target="../tags/tag39.xml"/><Relationship Id="rId10" Type="http://schemas.openxmlformats.org/officeDocument/2006/relationships/image" Target="../media/image37.png"/><Relationship Id="rId4" Type="http://schemas.openxmlformats.org/officeDocument/2006/relationships/tags" Target="../tags/tag38.xml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9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38.png"/><Relationship Id="rId5" Type="http://schemas.openxmlformats.org/officeDocument/2006/relationships/tags" Target="../tags/tag45.xml"/><Relationship Id="rId10" Type="http://schemas.openxmlformats.org/officeDocument/2006/relationships/image" Target="../media/image37.png"/><Relationship Id="rId4" Type="http://schemas.openxmlformats.org/officeDocument/2006/relationships/tags" Target="../tags/tag44.xml"/><Relationship Id="rId9" Type="http://schemas.openxmlformats.org/officeDocument/2006/relationships/image" Target="../media/image35.png"/><Relationship Id="rId1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tags" Target="../tags/tag49.xml"/><Relationship Id="rId21" Type="http://schemas.openxmlformats.org/officeDocument/2006/relationships/image" Target="../media/image50.png"/><Relationship Id="rId7" Type="http://schemas.openxmlformats.org/officeDocument/2006/relationships/tags" Target="../tags/tag53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46.png"/><Relationship Id="rId2" Type="http://schemas.openxmlformats.org/officeDocument/2006/relationships/tags" Target="../tags/tag48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tags" Target="../tags/tag56.xml"/><Relationship Id="rId19" Type="http://schemas.openxmlformats.org/officeDocument/2006/relationships/image" Target="../media/image48.png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7.png"/><Relationship Id="rId3" Type="http://schemas.openxmlformats.org/officeDocument/2006/relationships/tags" Target="../tags/tag6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56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55.png"/><Relationship Id="rId5" Type="http://schemas.openxmlformats.org/officeDocument/2006/relationships/tags" Target="../tags/tag62.xml"/><Relationship Id="rId10" Type="http://schemas.openxmlformats.org/officeDocument/2006/relationships/image" Target="../media/image51.png"/><Relationship Id="rId4" Type="http://schemas.openxmlformats.org/officeDocument/2006/relationships/tags" Target="../tags/tag61.xml"/><Relationship Id="rId9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62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61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60.png"/><Relationship Id="rId5" Type="http://schemas.openxmlformats.org/officeDocument/2006/relationships/tags" Target="../tags/tag68.xml"/><Relationship Id="rId15" Type="http://schemas.openxmlformats.org/officeDocument/2006/relationships/image" Target="../media/image63.png"/><Relationship Id="rId10" Type="http://schemas.openxmlformats.org/officeDocument/2006/relationships/image" Target="../media/image59.png"/><Relationship Id="rId4" Type="http://schemas.openxmlformats.org/officeDocument/2006/relationships/tags" Target="../tags/tag67.xml"/><Relationship Id="rId9" Type="http://schemas.openxmlformats.org/officeDocument/2006/relationships/image" Target="../media/image58.png"/><Relationship Id="rId1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4.19</a:t>
            </a:r>
            <a:r>
              <a:rPr lang="zh-CN" altLang="en-US" dirty="0"/>
              <a:t>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陈家龙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数值积分方法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为了计算参数重要性，我们要计算积分式：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原文采用了牛顿</a:t>
            </a:r>
            <a:r>
              <a:rPr lang="en-US" altLang="zh-CN" dirty="0"/>
              <a:t>-</a:t>
            </a:r>
            <a:r>
              <a:rPr lang="zh-CN" altLang="en-US" dirty="0"/>
              <a:t>科特斯公式，原理为在区间上取等距的</a:t>
            </a:r>
            <a:r>
              <a:rPr lang="en-US" altLang="zh-CN" dirty="0"/>
              <a:t>n-1</a:t>
            </a:r>
            <a:r>
              <a:rPr lang="zh-CN" altLang="en-US" dirty="0"/>
              <a:t>个点，用</a:t>
            </a:r>
            <a:r>
              <a:rPr lang="en-US" altLang="zh-CN" dirty="0"/>
              <a:t>n</a:t>
            </a:r>
            <a:r>
              <a:rPr lang="zh-CN" altLang="en-US" dirty="0"/>
              <a:t>次多项式拟合计算，其时间复杂度为</a:t>
            </a:r>
            <a:r>
              <a:rPr lang="en-US" altLang="zh-CN" dirty="0"/>
              <a:t>			       </a:t>
            </a:r>
            <a:r>
              <a:rPr lang="zh-CN" altLang="en-US" dirty="0"/>
              <a:t>，其中</a:t>
            </a:r>
            <a:r>
              <a:rPr lang="en-US" altLang="zh-CN" dirty="0"/>
              <a:t>	        </a:t>
            </a:r>
            <a:r>
              <a:rPr lang="zh-CN" altLang="en-US" dirty="0"/>
              <a:t>，是计算一次梯度的时间。对于神经网络而言，这通常等同于一次反向传播的时间，其复杂度与模型参数量 </a:t>
            </a:r>
            <a:r>
              <a:rPr lang="en-US" altLang="zh-CN" dirty="0"/>
              <a:t>$d$ </a:t>
            </a:r>
            <a:r>
              <a:rPr lang="zh-CN" altLang="en-US" dirty="0"/>
              <a:t>成线性关系。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430" y="1630728"/>
            <a:ext cx="3582173" cy="75885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744" y="3733883"/>
            <a:ext cx="3040000" cy="3562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364" y="4398781"/>
            <a:ext cx="1275733" cy="3562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高斯积分法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不难发现，辛普森法则的采样点是固定的（等距分点），如果能更合理地选择采样点，那么在同等的数量的采样次数能获得更高的精度，这就是</a:t>
            </a:r>
            <a:r>
              <a:rPr lang="zh-CN" altLang="en-US" b="1" dirty="0"/>
              <a:t>高斯积分法</a:t>
            </a:r>
            <a:r>
              <a:rPr lang="zh-CN" altLang="en-US" dirty="0"/>
              <a:t>的思路。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高斯积分法用</a:t>
            </a:r>
            <a:r>
              <a:rPr lang="en-US" altLang="zh-CN" dirty="0"/>
              <a:t>n</a:t>
            </a:r>
            <a:r>
              <a:rPr lang="zh-CN" altLang="en-US" dirty="0"/>
              <a:t>个点可以拟合</a:t>
            </a:r>
            <a:r>
              <a:rPr lang="en-US" altLang="zh-CN" dirty="0"/>
              <a:t>2n-1</a:t>
            </a:r>
            <a:r>
              <a:rPr lang="zh-CN" altLang="en-US" dirty="0"/>
              <a:t>次多项式，并且其时间复杂度同样为</a:t>
            </a:r>
            <a:r>
              <a:rPr lang="en-US" altLang="zh-CN" dirty="0"/>
              <a:t>			</a:t>
            </a:r>
            <a:r>
              <a:rPr lang="zh-CN" altLang="en-US" dirty="0"/>
              <a:t>       ，这意味在同样的时间下取得了更高的精度，变向加快了速度。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44" y="4768204"/>
            <a:ext cx="3040000" cy="356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原理：正交多项式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对一组多项式</a:t>
            </a:r>
            <a:r>
              <a:rPr lang="en-US" altLang="zh-CN" dirty="0"/>
              <a:t>				       </a:t>
            </a:r>
            <a:r>
              <a:rPr lang="zh-CN" altLang="en-US" dirty="0"/>
              <a:t>，如果任意两个不同次数的多项式，相乘后的积分都等于 </a:t>
            </a:r>
            <a:r>
              <a:rPr lang="en-US" altLang="zh-CN" dirty="0"/>
              <a:t>0</a:t>
            </a:r>
            <a:r>
              <a:rPr lang="zh-CN" altLang="en-US" dirty="0"/>
              <a:t>，称这是一组正交多项式。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勒让德多项式是满足</a:t>
            </a:r>
            <a:r>
              <a:rPr lang="en-US" altLang="zh-CN" dirty="0"/>
              <a:t>						         </a:t>
            </a:r>
            <a:r>
              <a:rPr lang="zh-CN" altLang="en-US" dirty="0"/>
              <a:t>的多项式，其中</a:t>
            </a:r>
            <a:r>
              <a:rPr lang="en-US" altLang="zh-CN" dirty="0"/>
              <a:t>	          </a:t>
            </a:r>
            <a:r>
              <a:rPr lang="zh-CN" altLang="en-US" dirty="0"/>
              <a:t>是克罗内克</a:t>
            </a:r>
            <a:r>
              <a:rPr lang="en-US" altLang="zh-CN" dirty="0"/>
              <a:t>δ</a:t>
            </a:r>
            <a:r>
              <a:rPr lang="zh-CN" altLang="en-US" dirty="0"/>
              <a:t>记号，在</a:t>
            </a:r>
            <a:r>
              <a:rPr lang="en-US" altLang="zh-CN" dirty="0"/>
              <a:t>m=n</a:t>
            </a:r>
            <a:r>
              <a:rPr lang="zh-CN" altLang="en-US" dirty="0"/>
              <a:t>是为</a:t>
            </a:r>
            <a:r>
              <a:rPr lang="en-US" altLang="zh-CN" dirty="0"/>
              <a:t>1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  <a:r>
              <a:rPr lang="zh-CN" altLang="en-US" dirty="0"/>
              <a:t>，显然这是一组正交多项式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20" y="2050475"/>
            <a:ext cx="3434666" cy="3562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731" y="3199104"/>
            <a:ext cx="5117865" cy="8810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513" y="4131852"/>
            <a:ext cx="829867" cy="3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积分近似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假设我们要积的函数是</a:t>
            </a:r>
            <a:r>
              <a:rPr lang="en-US" altLang="zh-CN" dirty="0"/>
              <a:t>f(x)</a:t>
            </a:r>
            <a:r>
              <a:rPr lang="zh-CN" altLang="en-US" dirty="0"/>
              <a:t>，我们尝试将其用一个</a:t>
            </a:r>
            <a:r>
              <a:rPr lang="en-US" altLang="zh-CN" dirty="0"/>
              <a:t>2n-1</a:t>
            </a:r>
            <a:r>
              <a:rPr lang="zh-CN" altLang="en-US" dirty="0"/>
              <a:t>次多项式拟合，此时有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其中</a:t>
            </a:r>
            <a:r>
              <a:rPr lang="zh-CN" altLang="zh-CN" dirty="0">
                <a:latin typeface="Arial" panose="020B0604020202020204" pitchFamily="34" charset="0"/>
                <a:ea typeface="Google Sans Text"/>
              </a:rPr>
              <a:t>$L_n(x)$ 是勒让德多项式</a:t>
            </a:r>
            <a:r>
              <a:rPr lang="zh-CN" altLang="en-US" dirty="0">
                <a:latin typeface="Arial" panose="020B0604020202020204" pitchFamily="34" charset="0"/>
                <a:ea typeface="Google Sans Text"/>
              </a:rPr>
              <a:t>，</a:t>
            </a:r>
            <a:r>
              <a:rPr lang="zh-CN" altLang="zh-CN" dirty="0">
                <a:latin typeface="Arial" panose="020B0604020202020204" pitchFamily="34" charset="0"/>
                <a:ea typeface="Google Sans Text"/>
              </a:rPr>
              <a:t>$Q_{n-1}(x)$ 是商式</a:t>
            </a:r>
            <a:r>
              <a:rPr lang="zh-CN" altLang="en-US" dirty="0">
                <a:latin typeface="Arial" panose="020B0604020202020204" pitchFamily="34" charset="0"/>
                <a:ea typeface="Google Sans Text"/>
              </a:rPr>
              <a:t>，</a:t>
            </a:r>
            <a:r>
              <a:rPr lang="zh-CN" altLang="zh-CN" dirty="0">
                <a:latin typeface="Arial" panose="020B0604020202020204" pitchFamily="34" charset="0"/>
                <a:ea typeface="Google Sans Text"/>
              </a:rPr>
              <a:t>$R_{n-1}(x)$ 是余式</a:t>
            </a:r>
            <a:r>
              <a:rPr lang="zh-CN" altLang="en-US" dirty="0">
                <a:latin typeface="Arial" panose="020B0604020202020204" pitchFamily="34" charset="0"/>
                <a:ea typeface="Google Sans Text"/>
              </a:rPr>
              <a:t>。求积分，有：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675" y="2704893"/>
            <a:ext cx="7200000" cy="3562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17" y="4594566"/>
            <a:ext cx="9815467" cy="1717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选取采样点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此时对</a:t>
            </a:r>
            <a:r>
              <a:rPr lang="en-US" altLang="zh-CN" dirty="0"/>
              <a:t>f(x)</a:t>
            </a:r>
            <a:r>
              <a:rPr lang="zh-CN" altLang="en-US" dirty="0"/>
              <a:t>的积分就是对</a:t>
            </a:r>
            <a:r>
              <a:rPr lang="en-US" altLang="zh-CN" dirty="0"/>
              <a:t>R(x)</a:t>
            </a:r>
            <a:r>
              <a:rPr lang="zh-CN" altLang="en-US" dirty="0"/>
              <a:t>的积分，而</a:t>
            </a:r>
            <a:r>
              <a:rPr lang="en-US" altLang="zh-CN" dirty="0"/>
              <a:t>R(x)</a:t>
            </a:r>
            <a:r>
              <a:rPr lang="zh-CN" altLang="en-US" dirty="0"/>
              <a:t>是</a:t>
            </a:r>
            <a:r>
              <a:rPr lang="en-US" altLang="zh-CN" dirty="0"/>
              <a:t>n-1</a:t>
            </a:r>
            <a:r>
              <a:rPr lang="zh-CN" altLang="en-US" dirty="0"/>
              <a:t>次多项式，所以只需要知道</a:t>
            </a:r>
            <a:r>
              <a:rPr lang="en-US" altLang="zh-CN" dirty="0"/>
              <a:t>R(x)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个点的值就可以了。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我们选取</a:t>
            </a:r>
            <a:r>
              <a:rPr lang="en-US" altLang="zh-CN" dirty="0"/>
              <a:t>L(x)</a:t>
            </a:r>
            <a:r>
              <a:rPr lang="zh-CN" altLang="en-US" dirty="0"/>
              <a:t>的根</a:t>
            </a:r>
            <a:r>
              <a:rPr lang="en-US" altLang="zh-CN" dirty="0" err="1"/>
              <a:t>x_i</a:t>
            </a:r>
            <a:r>
              <a:rPr lang="zh-CN" altLang="en-US" dirty="0"/>
              <a:t>，由于</a:t>
            </a:r>
            <a:r>
              <a:rPr lang="en-US" altLang="zh-CN" dirty="0"/>
              <a:t>							</a:t>
            </a:r>
            <a:r>
              <a:rPr lang="zh-CN" altLang="en-US" dirty="0"/>
              <a:t>，在这些点上有</a:t>
            </a:r>
            <a:r>
              <a:rPr lang="en-US" altLang="zh-CN" dirty="0"/>
              <a:t>			         </a:t>
            </a:r>
            <a:r>
              <a:rPr lang="zh-CN" altLang="en-US" dirty="0"/>
              <a:t>，而</a:t>
            </a:r>
            <a:r>
              <a:rPr lang="en-US" altLang="zh-CN" dirty="0"/>
              <a:t>f(x)</a:t>
            </a:r>
            <a:r>
              <a:rPr lang="zh-CN" altLang="en-US" dirty="0"/>
              <a:t>就是梯度函数，用反向传播计算梯度即可。这样我们就用</a:t>
            </a:r>
            <a:r>
              <a:rPr lang="en-US" altLang="zh-CN" dirty="0"/>
              <a:t>n</a:t>
            </a:r>
            <a:r>
              <a:rPr lang="zh-CN" altLang="en-US" dirty="0"/>
              <a:t>个点拟合了一个</a:t>
            </a:r>
            <a:r>
              <a:rPr lang="en-US" altLang="zh-CN" dirty="0"/>
              <a:t>2n-1</a:t>
            </a:r>
            <a:r>
              <a:rPr lang="zh-CN" altLang="en-US" dirty="0"/>
              <a:t>次多项式计算</a:t>
            </a:r>
            <a:r>
              <a:rPr lang="en-US" altLang="zh-CN" dirty="0"/>
              <a:t>f(x)</a:t>
            </a:r>
            <a:r>
              <a:rPr lang="zh-CN" altLang="en-US" dirty="0"/>
              <a:t>的积分值。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120" y="3481716"/>
            <a:ext cx="5326932" cy="3562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54" y="4128958"/>
            <a:ext cx="2647466" cy="356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计算效果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在平滑的函数上，辛普森法则的收敛速度是</a:t>
            </a:r>
            <a:r>
              <a:rPr lang="en-US" altLang="zh-CN" dirty="0"/>
              <a:t>	         </a:t>
            </a:r>
            <a:r>
              <a:rPr lang="zh-CN" altLang="en-US" dirty="0"/>
              <a:t>，</a:t>
            </a:r>
            <a:r>
              <a:rPr lang="en-US" altLang="zh-CN" dirty="0"/>
              <a:t>h</a:t>
            </a:r>
            <a:r>
              <a:rPr lang="zh-CN" altLang="en-US" dirty="0"/>
              <a:t>是采样点的距离。所有每增加一倍的采样点，误差会缩小到原来的</a:t>
            </a:r>
            <a:r>
              <a:rPr lang="en-US" altLang="zh-CN" dirty="0"/>
              <a:t>1/16</a:t>
            </a:r>
            <a:r>
              <a:rPr lang="zh-CN" altLang="en-US" dirty="0"/>
              <a:t>，而高斯积分法的误差上界约为</a:t>
            </a:r>
            <a:r>
              <a:rPr lang="en-US" altLang="zh-CN" dirty="0"/>
              <a:t>			</a:t>
            </a:r>
            <a:r>
              <a:rPr lang="zh-CN" altLang="en-US" dirty="0"/>
              <a:t>，即指数级收敛。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然而，当函数不光滑时（如使用大量</a:t>
            </a:r>
            <a:r>
              <a:rPr lang="en-US" altLang="zh-CN" dirty="0" err="1"/>
              <a:t>ReLU</a:t>
            </a:r>
            <a:r>
              <a:rPr lang="zh-CN" altLang="en-US" dirty="0"/>
              <a:t>，</a:t>
            </a:r>
            <a:r>
              <a:rPr lang="en-US" altLang="zh-CN" dirty="0" err="1"/>
              <a:t>MaxPooling</a:t>
            </a:r>
            <a:r>
              <a:rPr lang="zh-CN" altLang="en-US" dirty="0"/>
              <a:t>），这两种多项式积分法的效果可能甚至不如梯形法。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2060315"/>
            <a:ext cx="866133" cy="384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807" y="3321108"/>
            <a:ext cx="2240000" cy="381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71" y="1369444"/>
            <a:ext cx="5490029" cy="53652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38" y="1369444"/>
            <a:ext cx="5257797" cy="5138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参数过估计问题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完美的梯度是基于全体训练集计算的，也就是：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但现实这样计算量过大，我们取训练集中的</a:t>
            </a:r>
            <a:r>
              <a:rPr lang="en-US" altLang="zh-CN" dirty="0"/>
              <a:t>minibatch</a:t>
            </a:r>
            <a:r>
              <a:rPr lang="zh-CN" altLang="en-US" dirty="0"/>
              <a:t>计算梯度：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这两个梯度之间相差一个噪声，即是</a:t>
            </a:r>
            <a:endParaRPr lang="en-US" altLang="zh-CN" dirty="0"/>
          </a:p>
          <a:p>
            <a:r>
              <a:rPr lang="zh-CN" altLang="en-US" dirty="0"/>
              <a:t>根据大数定律，一般认为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656" y="2291537"/>
            <a:ext cx="3929600" cy="1032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656" y="3881374"/>
            <a:ext cx="4145067" cy="9365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088" y="4927480"/>
            <a:ext cx="3232000" cy="35626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555" y="5408337"/>
            <a:ext cx="4994132" cy="4010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过估计量的计算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这时观测的重要性：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即，</a:t>
            </a:r>
            <a:r>
              <a:rPr lang="en-US" altLang="zh-CN" dirty="0"/>
              <a:t>			</a:t>
            </a:r>
            <a:r>
              <a:rPr lang="zh-CN" altLang="en-US" dirty="0"/>
              <a:t>，而在</a:t>
            </a:r>
            <a:r>
              <a:rPr lang="en-US" altLang="zh-CN" dirty="0"/>
              <a:t>SGD</a:t>
            </a:r>
            <a:r>
              <a:rPr lang="zh-CN" altLang="en-US" dirty="0"/>
              <a:t>优化器中，</a:t>
            </a:r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868" y="2360117"/>
            <a:ext cx="9444264" cy="242986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433" y="4925542"/>
            <a:ext cx="2508800" cy="3989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1" y="4940474"/>
            <a:ext cx="2664533" cy="3690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00" y="5459413"/>
            <a:ext cx="6278401" cy="4010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00" y="6030637"/>
            <a:ext cx="3349332" cy="4010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双采样法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019"/>
          </a:xfrm>
        </p:spPr>
        <p:txBody>
          <a:bodyPr/>
          <a:lstStyle/>
          <a:p>
            <a:r>
              <a:rPr lang="zh-CN" altLang="en-US" dirty="0"/>
              <a:t>做两次</a:t>
            </a:r>
            <a:r>
              <a:rPr lang="en-US" altLang="zh-CN" dirty="0"/>
              <a:t>minibatch</a:t>
            </a:r>
            <a:r>
              <a:rPr lang="zh-CN" altLang="en-US" dirty="0"/>
              <a:t>的采样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，分别计算其梯度，不妨记为：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此时用</a:t>
            </a:r>
            <a:r>
              <a:rPr lang="en-US" altLang="zh-CN" dirty="0"/>
              <a:t>A</a:t>
            </a:r>
            <a:r>
              <a:rPr lang="zh-CN" altLang="en-US" dirty="0"/>
              <a:t>方向计算参数变化，但是</a:t>
            </a:r>
            <a:r>
              <a:rPr lang="en-US" altLang="zh-CN" dirty="0"/>
              <a:t>B</a:t>
            </a:r>
            <a:r>
              <a:rPr lang="zh-CN" altLang="en-US" dirty="0"/>
              <a:t>方向计算重要性，即：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这样参数的过估计量就被消除了。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709" y="2330138"/>
            <a:ext cx="4307199" cy="4138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17" y="3429000"/>
            <a:ext cx="2732798" cy="407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19" y="3971402"/>
            <a:ext cx="7901867" cy="98346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17" y="5232909"/>
            <a:ext cx="5945597" cy="4138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9050" y="1262206"/>
            <a:ext cx="10515600" cy="5748193"/>
          </a:xfrm>
        </p:spPr>
        <p:txBody>
          <a:bodyPr>
            <a:normAutofit/>
          </a:bodyPr>
          <a:lstStyle/>
          <a:p>
            <a:r>
              <a:rPr lang="zh-CN" altLang="en-US" dirty="0"/>
              <a:t>在双采样下，参数重要性估计值的偏差方差为：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这意味这方差很大且难以修正</a:t>
            </a:r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50" y="1858021"/>
            <a:ext cx="9841066" cy="42922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可能有效的矫正策略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我们前面知道了</a:t>
            </a:r>
            <a:r>
              <a:rPr lang="en-US" altLang="zh-CN" dirty="0"/>
              <a:t>				   </a:t>
            </a:r>
            <a:r>
              <a:rPr lang="zh-CN" altLang="en-US" dirty="0"/>
              <a:t>，在均值下</a:t>
            </a:r>
            <a:r>
              <a:rPr lang="en-US" altLang="zh-CN" dirty="0"/>
              <a:t>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那不妨直接将后面一项减掉，即计算</a:t>
            </a:r>
            <a:r>
              <a:rPr lang="en-US" altLang="zh-CN" dirty="0"/>
              <a:t>			  </a:t>
            </a:r>
            <a:r>
              <a:rPr lang="zh-CN" altLang="en-US" dirty="0"/>
              <a:t>作为参数重要性的值。</a:t>
            </a:r>
            <a:r>
              <a:rPr lang="en-US" altLang="zh-CN" dirty="0"/>
              <a:t>			  			         </a:t>
            </a:r>
          </a:p>
          <a:p>
            <a:r>
              <a:rPr lang="zh-CN" altLang="en-US" dirty="0"/>
              <a:t>对于给定的大小为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minibatch</a:t>
            </a:r>
            <a:r>
              <a:rPr lang="zh-CN" altLang="en-US" dirty="0"/>
              <a:t>，若对单个参数第</a:t>
            </a:r>
            <a:r>
              <a:rPr lang="en-US" altLang="zh-CN" dirty="0" err="1"/>
              <a:t>i</a:t>
            </a:r>
            <a:r>
              <a:rPr lang="zh-CN" altLang="en-US" dirty="0"/>
              <a:t>个样本计算的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梯度为</a:t>
            </a:r>
            <a:r>
              <a:rPr lang="en-US" altLang="zh-CN" dirty="0"/>
              <a:t>       </a:t>
            </a:r>
            <a:r>
              <a:rPr lang="zh-CN" altLang="en-US" dirty="0"/>
              <a:t>，依定义</a:t>
            </a:r>
            <a:r>
              <a:rPr lang="en-US" altLang="zh-CN" dirty="0"/>
              <a:t>		         </a:t>
            </a:r>
            <a:r>
              <a:rPr lang="zh-CN" altLang="en-US" dirty="0"/>
              <a:t>，故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所以我们只要估计每个样本对单个参数的梯度的方差即可。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256" y="1844097"/>
            <a:ext cx="2899200" cy="3925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458" y="1853333"/>
            <a:ext cx="2745600" cy="4010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353" y="2395847"/>
            <a:ext cx="2624000" cy="47573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445" y="4311274"/>
            <a:ext cx="4970665" cy="35626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934" y="3971305"/>
            <a:ext cx="2033066" cy="103253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89" y="5022528"/>
            <a:ext cx="6798932" cy="718933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12" y="4336038"/>
            <a:ext cx="373333" cy="2965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14085"/>
          </a:xfrm>
        </p:spPr>
        <p:txBody>
          <a:bodyPr>
            <a:normAutofit/>
          </a:bodyPr>
          <a:lstStyle/>
          <a:p>
            <a:r>
              <a:rPr lang="zh-CN" altLang="en-US" dirty="0"/>
              <a:t>最显然的方法就是直接计算，即</a:t>
            </a:r>
            <a:endParaRPr lang="en-US" altLang="zh-CN" dirty="0"/>
          </a:p>
          <a:p>
            <a:r>
              <a:rPr lang="zh-CN" altLang="en-US" dirty="0"/>
              <a:t>然而这需要显式计算每一个     ，在现实中我们没有这样的数据，单独计算和存储会有一定麻烦。</a:t>
            </a:r>
            <a:endParaRPr lang="en-US" altLang="zh-CN" dirty="0"/>
          </a:p>
          <a:p>
            <a:r>
              <a:rPr lang="zh-CN" altLang="en-US" dirty="0"/>
              <a:t>但是在某些情况下，一个</a:t>
            </a:r>
            <a:r>
              <a:rPr lang="en-US" altLang="zh-CN" dirty="0"/>
              <a:t>minibatch</a:t>
            </a:r>
            <a:r>
              <a:rPr lang="zh-CN" altLang="en-US" dirty="0"/>
              <a:t>会被拆成多分计算，例如多卡数据并行时，每张卡会处理</a:t>
            </a:r>
            <a:r>
              <a:rPr lang="en-US" altLang="zh-CN" dirty="0"/>
              <a:t>B/M</a:t>
            </a:r>
            <a:r>
              <a:rPr lang="zh-CN" altLang="en-US" dirty="0"/>
              <a:t>个样本；或显存不够时也会拆成多个</a:t>
            </a:r>
            <a:r>
              <a:rPr lang="en-US" altLang="zh-CN" dirty="0" err="1"/>
              <a:t>Microbatch</a:t>
            </a:r>
            <a:r>
              <a:rPr lang="zh-CN" altLang="en-US" dirty="0"/>
              <a:t>计算，而这就为更方便地估计方差提供方法：</a:t>
            </a:r>
            <a:endParaRPr lang="en-US" altLang="zh-CN" dirty="0"/>
          </a:p>
          <a:p>
            <a:r>
              <a:rPr lang="zh-CN" altLang="en-US" dirty="0"/>
              <a:t>令</a:t>
            </a:r>
            <a:r>
              <a:rPr lang="en-US" altLang="zh-CN" dirty="0"/>
              <a:t>b=B/M</a:t>
            </a:r>
            <a:r>
              <a:rPr lang="zh-CN" altLang="en-US" dirty="0"/>
              <a:t>，在每一个</a:t>
            </a:r>
            <a:r>
              <a:rPr lang="en-US" altLang="zh-CN" dirty="0" err="1"/>
              <a:t>Microbatch</a:t>
            </a:r>
            <a:r>
              <a:rPr lang="zh-CN" altLang="en-US" dirty="0"/>
              <a:t>内，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</a:t>
            </a:r>
            <a:r>
              <a:rPr lang="en-US" altLang="zh-CN" dirty="0"/>
              <a:t>				          </a:t>
            </a:r>
            <a:r>
              <a:rPr lang="zh-CN" altLang="en-US" dirty="0"/>
              <a:t>是</a:t>
            </a:r>
            <a:r>
              <a:rPr lang="en-US" altLang="zh-CN" dirty="0"/>
              <a:t>	  </a:t>
            </a:r>
            <a:r>
              <a:rPr lang="zh-CN" altLang="en-US" dirty="0"/>
              <a:t>的估计，即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1250159"/>
            <a:ext cx="5160531" cy="10325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92" y="2426738"/>
            <a:ext cx="373333" cy="2965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AF05FD-5538-BC9B-EC60-2061AF985A3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4976082"/>
            <a:ext cx="9540266" cy="75306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778" y="5742777"/>
            <a:ext cx="4219732" cy="102826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547" y="6058041"/>
            <a:ext cx="710400" cy="31573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575" y="5851576"/>
            <a:ext cx="1258667" cy="8106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C078-88CE-EC69-5B49-531317BD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7D1A3-1643-35F6-ADCE-E5A5B7F6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方差估计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D7763-18CB-7462-2315-1D7BD579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14085"/>
          </a:xfrm>
        </p:spPr>
        <p:txBody>
          <a:bodyPr>
            <a:normAutofit/>
          </a:bodyPr>
          <a:lstStyle/>
          <a:p>
            <a:r>
              <a:rPr lang="zh-CN" altLang="en-US" dirty="0"/>
              <a:t>最显然的方法就是直接计算，即</a:t>
            </a:r>
            <a:endParaRPr lang="en-US" altLang="zh-CN" dirty="0"/>
          </a:p>
          <a:p>
            <a:r>
              <a:rPr lang="zh-CN" altLang="en-US" dirty="0"/>
              <a:t>然而这需要显式计算每一个     ，在现实中我们没有这样的数据，单独计算和存储会有一定麻烦。</a:t>
            </a:r>
            <a:endParaRPr lang="en-US" altLang="zh-CN" dirty="0"/>
          </a:p>
          <a:p>
            <a:r>
              <a:rPr lang="zh-CN" altLang="en-US" dirty="0"/>
              <a:t>但是在某些情况下，一个</a:t>
            </a:r>
            <a:r>
              <a:rPr lang="en-US" altLang="zh-CN" dirty="0"/>
              <a:t>minibatch</a:t>
            </a:r>
            <a:r>
              <a:rPr lang="zh-CN" altLang="en-US" dirty="0"/>
              <a:t>会被拆成多分计算，例如多卡数据并行时，每张卡会处理</a:t>
            </a:r>
            <a:r>
              <a:rPr lang="en-US" altLang="zh-CN" dirty="0"/>
              <a:t>B/M</a:t>
            </a:r>
            <a:r>
              <a:rPr lang="zh-CN" altLang="en-US" dirty="0"/>
              <a:t>个样本；或显存不够时也会拆成多个</a:t>
            </a:r>
            <a:r>
              <a:rPr lang="en-US" altLang="zh-CN" dirty="0" err="1"/>
              <a:t>Microbatch</a:t>
            </a:r>
            <a:r>
              <a:rPr lang="zh-CN" altLang="en-US" dirty="0"/>
              <a:t>计算，而这就为更方便地估计方差提供方法：</a:t>
            </a:r>
            <a:endParaRPr lang="en-US" altLang="zh-CN" dirty="0"/>
          </a:p>
          <a:p>
            <a:r>
              <a:rPr lang="zh-CN" altLang="en-US" dirty="0"/>
              <a:t>令</a:t>
            </a:r>
            <a:r>
              <a:rPr lang="en-US" altLang="zh-CN" dirty="0"/>
              <a:t>b=B/M</a:t>
            </a:r>
            <a:r>
              <a:rPr lang="zh-CN" altLang="en-US" dirty="0"/>
              <a:t>，在每一个</a:t>
            </a:r>
            <a:r>
              <a:rPr lang="en-US" altLang="zh-CN" dirty="0" err="1"/>
              <a:t>Microbatch</a:t>
            </a:r>
            <a:r>
              <a:rPr lang="zh-CN" altLang="en-US" dirty="0"/>
              <a:t>内，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</a:t>
            </a:r>
            <a:r>
              <a:rPr lang="en-US" altLang="zh-CN" dirty="0"/>
              <a:t>				          </a:t>
            </a:r>
            <a:r>
              <a:rPr lang="zh-CN" altLang="en-US" dirty="0"/>
              <a:t>是</a:t>
            </a:r>
            <a:r>
              <a:rPr lang="en-US" altLang="zh-CN" dirty="0"/>
              <a:t>	  </a:t>
            </a:r>
            <a:r>
              <a:rPr lang="zh-CN" altLang="en-US" dirty="0"/>
              <a:t>的估计，即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2AC390-FCC5-406C-7610-B080898396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1250159"/>
            <a:ext cx="5160531" cy="10325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5692C94-3E6F-5CA2-1C1C-BC7B88B5D0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92" y="2426738"/>
            <a:ext cx="373333" cy="2965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A17D2E-554E-134C-D28E-AFC13CDB89D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4976082"/>
            <a:ext cx="9540266" cy="75306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0DAFA55-CC1F-32A5-5CAD-123E581924B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778" y="5742777"/>
            <a:ext cx="4219732" cy="102826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7F4ADFE-983E-A4CA-EEA2-BD9B1941E07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547" y="6058041"/>
            <a:ext cx="710400" cy="3157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55758F7-6846-134D-DFE8-D0C8BD5EDB4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575" y="5851576"/>
            <a:ext cx="1258667" cy="8106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15378F-3420-24B2-9AB4-BDDCF3D264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764" y="496995"/>
            <a:ext cx="10697538" cy="616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69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矫正效果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613776" cy="4351338"/>
          </a:xfrm>
        </p:spPr>
        <p:txBody>
          <a:bodyPr/>
          <a:lstStyle/>
          <a:p>
            <a:r>
              <a:rPr lang="zh-CN" altLang="en-US" dirty="0"/>
              <a:t>假设：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理论上，前面提到的两种方法</a:t>
            </a:r>
            <a:r>
              <a:rPr lang="en-US" altLang="zh-CN" dirty="0"/>
              <a:t>	     </a:t>
            </a:r>
            <a:r>
              <a:rPr lang="zh-CN" altLang="en-US" dirty="0"/>
              <a:t>，是无偏估计。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假设      服从高斯分布，</a:t>
            </a:r>
            <a:r>
              <a:rPr lang="en-US" altLang="zh-CN" dirty="0"/>
              <a:t>				</a:t>
            </a:r>
            <a:r>
              <a:rPr lang="zh-CN" altLang="en-US" dirty="0"/>
              <a:t>，且与    独立，代入得</a:t>
            </a:r>
            <a:r>
              <a:rPr lang="en-US" altLang="zh-CN" dirty="0"/>
              <a:t>			   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135" y="1765637"/>
            <a:ext cx="8249599" cy="4757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135" y="2376308"/>
            <a:ext cx="3541333" cy="40106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034" y="2395466"/>
            <a:ext cx="5376000" cy="40106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895" y="2912313"/>
            <a:ext cx="7652268" cy="40106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034" y="3448317"/>
            <a:ext cx="964267" cy="3008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778" y="3885148"/>
            <a:ext cx="7084802" cy="40106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35" y="4400067"/>
            <a:ext cx="11820799" cy="40320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41" y="4998372"/>
            <a:ext cx="307200" cy="232533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082" y="4916914"/>
            <a:ext cx="3522133" cy="4032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749" y="5448091"/>
            <a:ext cx="6506666" cy="4032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553" y="5073038"/>
            <a:ext cx="119467" cy="1578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与双采样的比较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36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在计算量相同的情况下，若矫正单采样的</a:t>
            </a:r>
            <a:r>
              <a:rPr lang="en-US" altLang="zh-CN" dirty="0" err="1"/>
              <a:t>batchsize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，双采样的</a:t>
            </a:r>
            <a:r>
              <a:rPr lang="en-US" altLang="zh-CN" dirty="0" err="1"/>
              <a:t>batchsize</a:t>
            </a:r>
            <a:r>
              <a:rPr lang="zh-CN" altLang="en-US" dirty="0"/>
              <a:t>为</a:t>
            </a:r>
            <a:r>
              <a:rPr lang="en-US" altLang="zh-CN" dirty="0"/>
              <a:t>B/2</a:t>
            </a:r>
            <a:r>
              <a:rPr lang="zh-CN" altLang="en-US" dirty="0"/>
              <a:t>，方差变为</a:t>
            </a:r>
            <a:r>
              <a:rPr lang="en-US" altLang="zh-CN" dirty="0"/>
              <a:t>	    </a:t>
            </a:r>
            <a:r>
              <a:rPr lang="zh-CN" altLang="en-US" dirty="0"/>
              <a:t>，则：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r>
              <a:rPr lang="zh-CN" altLang="en-US" dirty="0"/>
              <a:t>而</a:t>
            </a:r>
            <a:endParaRPr lang="en-US" altLang="zh-CN" dirty="0"/>
          </a:p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令上式大于</a:t>
            </a:r>
            <a:r>
              <a:rPr lang="en-US" altLang="zh-CN" dirty="0"/>
              <a:t>0</a:t>
            </a:r>
            <a:r>
              <a:rPr lang="zh-CN" altLang="en-US" dirty="0"/>
              <a:t>时，单采样效果更好，此时</a:t>
            </a:r>
          </a:p>
          <a:p>
            <a:r>
              <a:rPr lang="zh-CN" altLang="en-US" dirty="0"/>
              <a:t>其中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83" y="2659174"/>
            <a:ext cx="499200" cy="3157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31" y="3168016"/>
            <a:ext cx="9992537" cy="403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982" y="4046332"/>
            <a:ext cx="6506666" cy="403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95634"/>
            <a:ext cx="10020264" cy="4032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465" y="5173484"/>
            <a:ext cx="2926933" cy="403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E6AB10-8362-FF22-27BE-2FAEE2DA53E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617" y="5693059"/>
            <a:ext cx="8616533" cy="8106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C2402-457B-E41C-66D2-B1B7E38E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microbatch</a:t>
            </a:r>
            <a:r>
              <a:rPr lang="zh-CN" altLang="en-US" dirty="0"/>
              <a:t>的方差估计的方差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C61E1-3479-EF8A-FD21-487947E7F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假设</a:t>
            </a:r>
            <a:r>
              <a:rPr lang="en-US" altLang="zh-CN" dirty="0"/>
              <a:t>			      </a:t>
            </a:r>
            <a:r>
              <a:rPr lang="zh-CN" altLang="en-US" dirty="0"/>
              <a:t>，有结论</a:t>
            </a:r>
            <a:r>
              <a:rPr lang="en-US" altLang="zh-CN" dirty="0"/>
              <a:t>			      </a:t>
            </a:r>
            <a:r>
              <a:rPr lang="zh-CN" altLang="en-US" dirty="0"/>
              <a:t>，而卡方分布的方差是已知值</a:t>
            </a:r>
            <a:endParaRPr lang="en-US" altLang="zh-CN" dirty="0"/>
          </a:p>
          <a:p>
            <a:r>
              <a:rPr lang="zh-CN" altLang="en-US" dirty="0"/>
              <a:t>变形即可得</a:t>
            </a:r>
            <a:r>
              <a:rPr lang="en-US" altLang="zh-CN" dirty="0"/>
              <a:t>							      </a:t>
            </a:r>
            <a:r>
              <a:rPr lang="zh-CN" altLang="en-US" dirty="0"/>
              <a:t>，故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		</a:t>
            </a:r>
            <a:r>
              <a:rPr lang="zh-CN" altLang="en-US" dirty="0"/>
              <a:t>，代入</a:t>
            </a:r>
            <a:r>
              <a:rPr lang="en-US" altLang="zh-CN" dirty="0"/>
              <a:t>			      </a:t>
            </a:r>
            <a:r>
              <a:rPr lang="zh-CN" altLang="en-US" dirty="0"/>
              <a:t>，注意到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</a:t>
            </a:r>
            <a:r>
              <a:rPr lang="en-US" altLang="zh-CN" dirty="0"/>
              <a:t>	        </a:t>
            </a:r>
            <a:r>
              <a:rPr lang="zh-CN" altLang="en-US" dirty="0"/>
              <a:t>时总是成立，由此证明单样本矫正在控制控制方差方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面总是比双采样要更好。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1AB02A-56F1-2FE7-C7AF-802E0E9881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548" y="2020429"/>
            <a:ext cx="2961066" cy="422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AE6A0A-8A2C-F98E-1260-3F6F649EC2B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360" y="1700576"/>
            <a:ext cx="2969601" cy="8149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37DA90E-0B47-2594-CBE2-61C0EFA070B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08" y="2702451"/>
            <a:ext cx="1393067" cy="3562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3C3A417-98D3-04EE-E97D-C865215058B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465" y="3026430"/>
            <a:ext cx="6519466" cy="77866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170FF4B-2291-E8CB-B706-48C958BC86D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589" y="3939056"/>
            <a:ext cx="4200535" cy="77866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B972CBB-C70C-67ED-A7CF-F97DBA8ABA8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217" y="4226287"/>
            <a:ext cx="2926933" cy="4032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A05132C-74BC-50AD-16FB-301CEE7EC58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31" y="5367591"/>
            <a:ext cx="1000533" cy="29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28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11.2111"/>
  <p:tag name="ORIGINALWIDTH" val=" 1469.066"/>
  <p:tag name="OUTPUTTYPE" val="PNG"/>
  <p:tag name="IGUANATEXVERSION" val="162"/>
  <p:tag name="LATEXADDIN" val="\documentclass{article}&#10;\usepackage{amsmath}&#10;\pagestyle{empty}&#10;\begin{document}&#10;&#10;$$\Delta \theta_k\int_0^1g_k(\theta(x_t)+\alpha\Delta\theta)d\alpha $$&#10;&#10;&#10;\end{document}"/>
  <p:tag name="IGUANATEXSIZE" val="24"/>
  <p:tag name="IGUANATEXCURSOR" val="151"/>
  <p:tag name="TRANSPARENCY" val="True"/>
  <p:tag name="CHOOSECOLOR" val="False"/>
  <p:tag name="COLORHEX" val="000000"/>
  <p:tag name="LATEXENGINEID" val="0"/>
  <p:tag name="TEMPFOLDER" val="c:\temp\"/>
  <p:tag name="LATEXFORMHEIGHT" val=" 319.2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068.616"/>
  <p:tag name="OUTPUTTYPE" val="PNG"/>
  <p:tag name="IGUANATEXVERSION" val="162"/>
  <p:tag name="LATEXADDIN" val="\documentclass{article}&#10;\usepackage{amsmath}&#10;\pagestyle{empty}&#10;\begin{document}&#10;&#10;$$T = O(n \cdot \text{Cost}(g_k))$$&#10;&#10;&#10;\end{document}"/>
  <p:tag name="IGUANATEXSIZE" val="28"/>
  <p:tag name="IGUANATEXCURSOR" val="11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448.4439"/>
  <p:tag name="OUTPUTTYPE" val="PNG"/>
  <p:tag name="IGUANATEXVERSION" val="162"/>
  <p:tag name="LATEXADDIN" val="\documentclass{article}&#10;\usepackage{amsmath}&#10;\pagestyle{empty}&#10;\begin{document}&#10;&#10;$\text{Cost}(g_k)$&#10;&#10;&#10;\end{document}"/>
  <p:tag name="IGUANATEXSIZE" val="28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068.616"/>
  <p:tag name="OUTPUTTYPE" val="PNG"/>
  <p:tag name="IGUANATEXVERSION" val="162"/>
  <p:tag name="LATEXADDIN" val="\documentclass{article}&#10;\usepackage{amsmath}&#10;\pagestyle{empty}&#10;\begin{document}&#10;&#10;$$T = O(n \cdot \text{Cost}(g_k))$$&#10;&#10;&#10;\end{document}"/>
  <p:tag name="IGUANATEXSIZE" val="28"/>
  <p:tag name="IGUANATEXCURSOR" val="11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207.349"/>
  <p:tag name="OUTPUTTYPE" val="PNG"/>
  <p:tag name="IGUANATEXVERSION" val="162"/>
  <p:tag name="LATEXADDIN" val="\documentclass{article}&#10;\usepackage{amsmath}&#10;\pagestyle{empty}&#10;\begin{document}&#10;&#10;$P_0(x), P_1(x), P_2(x), \dots$&#10;&#10;&#10;\end{document}"/>
  <p:tag name="IGUANATEXSIZE" val="28"/>
  <p:tag name="IGUANATEXCURSOR" val="1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9.7113"/>
  <p:tag name="ORIGINALWIDTH" val=" 1799.025"/>
  <p:tag name="OUTPUTTYPE" val="PNG"/>
  <p:tag name="IGUANATEXVERSION" val="162"/>
  <p:tag name="LATEXADDIN" val="\documentclass{article}&#10;\usepackage{amsmath}&#10;\pagestyle{empty}&#10;\begin{document}&#10;&#10;$$\int_{-1}^1L_m(x)L_n(x)dx=\frac{2}{2n+1}\delta_{m,n} $$&#10;&#10;&#10;\end{document}"/>
  <p:tag name="IGUANATEXSIZE" val="28"/>
  <p:tag name="IGUANATEXCURSOR" val="92"/>
  <p:tag name="TRANSPARENCY" val="True"/>
  <p:tag name="CHOOSECOLOR" val="False"/>
  <p:tag name="COLORHEX" val="000000"/>
  <p:tag name="LATEXENGINEID" val="0"/>
  <p:tag name="TEMPFOLDER" val="c:\temp\"/>
  <p:tag name="LATEXFORMHEIGHT" val=" 322.2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2.4859"/>
  <p:tag name="ORIGINALWIDTH" val=" 291.7135"/>
  <p:tag name="OUTPUTTYPE" val="PNG"/>
  <p:tag name="IGUANATEXVERSION" val="162"/>
  <p:tag name="LATEXADDIN" val="\documentclass{article}&#10;\usepackage{amsmath}&#10;\pagestyle{empty}&#10;\begin{document}&#10;&#10;$$\delta{m,n} $$&#10;&#10;&#10;\end{document}"/>
  <p:tag name="IGUANATEXSIZE" val="28"/>
  <p:tag name="IGUANATEXCURSOR" val="9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2530.934"/>
  <p:tag name="OUTPUTTYPE" val="PNG"/>
  <p:tag name="IGUANATEXVERSION" val="162"/>
  <p:tag name="LATEXADDIN" val="\documentclass{article}&#10;\usepackage{amsmath}&#10;\pagestyle{empty}&#10;\begin{document}&#10;$$f(x) = P_{2n-1}(x) = Q_{n-1}(x) \cdot L_n(x) + R_{n-1}(x)$$&#10;&#10;\end{document}"/>
  <p:tag name="IGUANATEXSIZE" val="28"/>
  <p:tag name="IGUANATEXCURSOR" val="14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03.6746"/>
  <p:tag name="ORIGINALWIDTH" val=" 3450.319"/>
  <p:tag name="OUTPUTTYPE" val="PNG"/>
  <p:tag name="IGUANATEXVERSION" val="162"/>
  <p:tag name="LATEXADDIN" val="\documentclass{article}&#10;\usepackage{amsmath}&#10;\pagestyle{empty}&#10;\begin{document}&#10;\begin{align}&#10;\int f(x)dx &amp;= \int Q_{n-1}(x) L_n(x) dx + \int R_{n-1}(x) dx\\&amp;=\int R_{n-1}(x) dx&#10;\end{align}&#10;&#10;&#10;\end{document}"/>
  <p:tag name="IGUANATEXSIZE" val="28"/>
  <p:tag name="IGUANATEXCURSOR" val="18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872.516"/>
  <p:tag name="OUTPUTTYPE" val="PNG"/>
  <p:tag name="IGUANATEXVERSION" val="162"/>
  <p:tag name="LATEXADDIN" val="\documentclass{article}&#10;\usepackage{amsmath}&#10;\pagestyle{empty}&#10;\begin{document}&#10;$$f(x) = Q_{n-1}(x) \cdot L_n(x) + R_{n-1}(x)$$&#10;&#10;\end{document}"/>
  <p:tag name="IGUANATEXSIZE" val="28"/>
  <p:tag name="IGUANATEXCURSOR" val="8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930.6336"/>
  <p:tag name="OUTPUTTYPE" val="PNG"/>
  <p:tag name="IGUANATEXVERSION" val="162"/>
  <p:tag name="LATEXADDIN" val="\documentclass{article}&#10;\usepackage{amsmath}&#10;\pagestyle{empty}&#10;\begin{document}&#10;&#10;$$ f(x_i)=R_{n-1}(x_i)$$&#10;&#10;&#10;\end{document}"/>
  <p:tag name="IGUANATEXSIZE" val="28"/>
  <p:tag name="IGUANATEXCURSOR" val="10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4.9832"/>
  <p:tag name="ORIGINALWIDTH" val=" 304.462"/>
  <p:tag name="OUTPUTTYPE" val="PNG"/>
  <p:tag name="IGUANATEXVERSION" val="162"/>
  <p:tag name="LATEXADDIN" val="\documentclass{article}&#10;\usepackage{amsmath}&#10;\pagestyle{empty}&#10;\begin{document}&#10;&#10;$O(h^4)$ &#10;&#10;&#10;\end{document}"/>
  <p:tag name="IGUANATEXSIZE" val="28"/>
  <p:tag name="IGUANATEXCURSOR" val="9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4.2332"/>
  <p:tag name="ORIGINALWIDTH" val=" 787.4016"/>
  <p:tag name="OUTPUTTYPE" val="PNG"/>
  <p:tag name="IGUANATEXVERSION" val="162"/>
  <p:tag name="LATEXADDIN" val="\documentclass{article}&#10;\usepackage{amsmath}&#10;\pagestyle{empty}&#10;\begin{document}&#10;&#10;$O(\rho^{-2n}),\rho &gt; 1 $&#10;&#10;&#10;\end{document}"/>
  <p:tag name="IGUANATEXSIZE" val="28"/>
  <p:tag name="IGUANATEXCURSOR" val="10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2.9547"/>
  <p:tag name="ORIGINALWIDTH" val=" 1381.327"/>
  <p:tag name="OUTPUTTYPE" val="PNG"/>
  <p:tag name="IGUANATEXVERSION" val="162"/>
  <p:tag name="LATEXADDIN" val="\documentclass{article}&#10;\usepackage{amsmath}&#10;\pagestyle{empty}&#10;\begin{document}&#10;$$g^*(\Theta) = \frac{1}{N} \sum_{i=1}^{N} \nabla L(x_i, \Theta)$$&#10;&#10;&#10;\end{document}"/>
  <p:tag name="IGUANATEXSIZE" val="28"/>
  <p:tag name="IGUANATEXCURSOR" val="14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9.2088"/>
  <p:tag name="ORIGINALWIDTH" val=" 1457.068"/>
  <p:tag name="OUTPUTTYPE" val="PNG"/>
  <p:tag name="IGUANATEXVERSION" val="162"/>
  <p:tag name="LATEXADDIN" val="\documentclass{article}&#10;\usepackage{amsmath}&#10;\pagestyle{empty}&#10;\begin{document}&#10;&#10;$$g(\Theta) = \frac{1}{|B_t|} \sum_{i \in B_t} \nabla L(x_i, \Theta)$$&#10;&#10;\end{document}"/>
  <p:tag name="IGUANATEXSIZE" val="28"/>
  <p:tag name="IGUANATEXCURSOR" val="8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136.108"/>
  <p:tag name="OUTPUTTYPE" val="PNG"/>
  <p:tag name="IGUANATEXVERSION" val="162"/>
  <p:tag name="LATEXADDIN" val="\documentclass{article}&#10;\usepackage{amsmath}&#10;\pagestyle{empty}&#10;\begin{document}&#10;$$g(\Theta) = g^*(\Theta) + \eta(\Theta)$$&#10;&#10;&#10;\end{document}"/>
  <p:tag name="IGUANATEXSIZE" val="28"/>
  <p:tag name="IGUANATEXCURSOR" val="12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1755.531"/>
  <p:tag name="OUTPUTTYPE" val="PNG"/>
  <p:tag name="IGUANATEXVERSION" val="162"/>
  <p:tag name="LATEXADDIN" val="\documentclass{article}&#10;\usepackage{amsmath}&#10;\usepackage{amssymb}&#10;\pagestyle{empty}&#10;\begin{document}&#10;&#10;$$\mathbb{E}[\eta(\Theta)] = 0, Var(\eta(\Theta)) = \sigma^2(\Theta)$$&#10;&#10;&#10;\end{document}"/>
  <p:tag name="IGUANATEXSIZE" val="28"/>
  <p:tag name="IGUANATEXCURSOR" val="11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54.1432"/>
  <p:tag name="ORIGINALWIDTH" val=" 3319.835"/>
  <p:tag name="OUTPUTTYPE" val="PNG"/>
  <p:tag name="IGUANATEXVERSION" val="162"/>
  <p:tag name="LATEXADDIN" val="\documentclass{article}&#10;\usepackage{amsmath}&#10;\pagestyle{empty}&#10;\begin{document}&#10;\begin{align}&#10;\hat{\omega}_{k}^{t} &amp;= \Delta\theta_{k} \int_{0}^{1} \left( g_{k}^{*}(\theta(x_{t}) + \alpha\Delta\Theta) + \eta_{k}(\theta) \right) d\alpha \\&#10;&amp;=\omega_k^t+\Delta\theta_k\int_0^1\eta_k(\theta)d\alpha&#10; \\&#10;&amp;\approx\omega_k^t+\Delta\theta_k \cdot \eta_k&#10;\end{align}&#10;\end{document}"/>
  <p:tag name="IGUANATEXSIZE" val="28"/>
  <p:tag name="IGUANATEXCURSOR" val="30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2324"/>
  <p:tag name="ORIGINALWIDTH" val=" 881.8898"/>
  <p:tag name="OUTPUTTYPE" val="PNG"/>
  <p:tag name="IGUANATEXVERSION" val="162"/>
  <p:tag name="LATEXADDIN" val="\documentclass{article}&#10;\usepackage{amsmath}&#10;\pagestyle{empty}&#10;\begin{document}&#10;&#10;$$\text{Bias}_k^t \approx \Delta\theta_{k} \cdot \eta_{k}$$&#10;&#10;&#10;\end{document}"/>
  <p:tag name="IGUANATEXSIZE" val="28"/>
  <p:tag name="IGUANATEXCURSOR" val="9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7338"/>
  <p:tag name="ORIGINALWIDTH" val=" 936.6329"/>
  <p:tag name="OUTPUTTYPE" val="PNG"/>
  <p:tag name="IGUANATEXVERSION" val="162"/>
  <p:tag name="LATEXADDIN" val="\documentclass{article}&#10;\usepackage{amsmath}&#10;\pagestyle{empty}&#10;\begin{document}&#10;&#10;$\Delta\theta_k \approx \gamma (g_k^* + \eta_k)$&#10;&#10;&#10;\end{document}"/>
  <p:tag name="IGUANATEXSIZE" val="28"/>
  <p:tag name="IGUANATEXCURSOR" val="10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2206.974"/>
  <p:tag name="OUTPUTTYPE" val="PNG"/>
  <p:tag name="IGUANATEXVERSION" val="162"/>
  <p:tag name="LATEXADDIN" val="\documentclass{article}&#10;\usepackage{amsmath}&#10;\pagestyle{empty}&#10;\begin{document}&#10;&#10;$$\Rightarrow\text{Bias}_k^t \approx \gamma (g_k^* + \eta_k) \cdot \eta_k = \gamma g_k^* \eta_k + \gamma \eta_k^2$$&#10;&#10;&#10;\end{document}"/>
  <p:tag name="IGUANATEXSIZE" val="28"/>
  <p:tag name="IGUANATEXCURSOR" val="11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1177.353"/>
  <p:tag name="OUTPUTTYPE" val="PNG"/>
  <p:tag name="IGUANATEXVERSION" val="162"/>
  <p:tag name="LATEXADDIN" val="\documentclass{article}&#10;\usepackage{amsmath}&#10;\usepackage{amssymb}&#10;\pagestyle{empty}&#10;\begin{document}&#10;&#10;$$\Rightarrow \mathbb{E}(\text{Bias}_k^t)= \gamma \sigma^2(\Theta)$$&#10;&#10;&#10;\end{document}"/>
  <p:tag name="IGUANATEXSIZE" val="28"/>
  <p:tag name="IGUANATEXCURSOR" val="14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5.4818"/>
  <p:tag name="ORIGINALWIDTH" val=" 1514.061"/>
  <p:tag name="OUTPUTTYPE" val="PNG"/>
  <p:tag name="IGUANATEXVERSION" val="162"/>
  <p:tag name="LATEXADDIN" val="\documentclass{article}&#10;\usepackage{amsmath}&#10;\pagestyle{empty}&#10;\begin{document}&#10;&#10;$$g^A_k=g^*_k+\eta^A_k,g^B_k=g^*_k+\eta^B_k $$&#10;&#10;&#10;\end{document}"/>
  <p:tag name="IGUANATEXSIZE" val="28"/>
  <p:tag name="IGUANATEXCURSOR" val="12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3.2321"/>
  <p:tag name="ORIGINALWIDTH" val=" 960.6299"/>
  <p:tag name="OUTPUTTYPE" val="PNG"/>
  <p:tag name="IGUANATEXVERSION" val="162"/>
  <p:tag name="LATEXADDIN" val="\documentclass{article}&#10;\usepackage{amsmath}&#10;\pagestyle{empty}&#10;\begin{document}&#10;&#10;$\Delta\theta_k = \gamma (g_k^* + \eta^A_k)$&#10;&#10;&#10;\end{document}"/>
  <p:tag name="IGUANATEXSIZE" val="28"/>
  <p:tag name="IGUANATEXCURSOR" val="9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5.7068"/>
  <p:tag name="ORIGINALWIDTH" val=" 2777.653"/>
  <p:tag name="OUTPUTTYPE" val="PNG"/>
  <p:tag name="IGUANATEXVERSION" val="162"/>
  <p:tag name="LATEXADDIN" val="\documentclass{article}&#10;\usepackage{amsmath}&#10;\pagestyle{empty}&#10;\begin{document}&#10;\begin{align}&#10;\text{Bias}_k^t &amp;= \Delta\theta_{k} \cdot \eta_{k}\\&#10;&amp;=\gamma (g_k^* + \eta^A_k) \cdot \eta^B_{k}&#10;\end{align}&#10;&#10;\end{document}"/>
  <p:tag name="IGUANATEXSIZE" val="28"/>
  <p:tag name="IGUANATEXCURSOR" val="14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5.4818"/>
  <p:tag name="ORIGINALWIDTH" val=" 2089.989"/>
  <p:tag name="OUTPUTTYPE" val="PNG"/>
  <p:tag name="IGUANATEXVERSION" val="162"/>
  <p:tag name="LATEXADDIN" val="\documentclass{article}&#10;\usepackage{amsmath}&#10;\usepackage{amssymb}&#10;\pagestyle{empty}&#10;\begin{document}&#10;&#10;$$\mathbb{E}(\text{Bias}_k^t)=\mathbb{E}(\gamma g^*_k\eta_k^B)+\mathbb{E}(\gamma \eta_k^A\eta_k^B)=0 $$&#10;&#10;&#10;\end{document}"/>
  <p:tag name="IGUANATEXSIZE" val="28"/>
  <p:tag name="IGUANATEXCURSOR" val="16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08.811"/>
  <p:tag name="ORIGINALWIDTH" val=" 3459.317"/>
  <p:tag name="OUTPUTTYPE" val="PNG"/>
  <p:tag name="IGUANATEXVERSION" val="162"/>
  <p:tag name="LATEXADDIN" val="\documentclass{article}&#10;\usepackage{amsmath}&#10;\usepackage{amssymb}&#10;\pagestyle{empty}&#10;\begin{document}&#10;&#10;&#10;&#10;\begin{align}&#10;\operatorname{Var}(\hat{\omega}-\omega_k^t) &amp;= \mathbb{E}[(\hat{\omega}-\omega_k^t)^2] \\&#10;&amp;= \mathbb{E}\left[\gamma^2 (g_k^* + \eta_k^{(A)})^2 (\eta_k^{(B)})^2\right] \\&#10;&amp;= \gamma^2 \mathbb{E}\left[(g_k^* + \eta_k^{(A)})^2\right] \mathbb{E}\left[(\eta_k^{(B)})^2\right] \\&#10;&amp;= \gamma^2 \left((g_k^*)^2 + \sigma_A^2\right) \sigma_B^2 \\&#10;&amp;= \gamma^2 \left[(g_k^*)^2 \sigma_B^2 + \sigma_A^2 \sigma_B^2\right] \\&#10;\sigma_A^2 &amp;= \sigma_B^2 = \sigma^2 \\&#10;\Rightarrow \operatorname{Var}(\hat{\omega}-\omega_k^t)) &amp;= \gamma^2 \left[(g_k^*)^2 \sigma^2 + \sigma^4\right]&#10;\end{align}&#10;&#10;&#10;&#10;\end{document}"/>
  <p:tag name="IGUANATEXSIZE" val="28"/>
  <p:tag name="IGUANATEXCURSOR" val="6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7.9828"/>
  <p:tag name="ORIGINALWIDTH" val=" 1019.123"/>
  <p:tag name="OUTPUTTYPE" val="PNG"/>
  <p:tag name="IGUANATEXVERSION" val="162"/>
  <p:tag name="LATEXADDIN" val="\documentclass{article}&#10;\usepackage{amsmath}&#10;\usepackage{amssymb}&#10;\pagestyle{empty}&#10;\begin{document}&#10;&#10;$$ &#10;\hat{\omega}_{k}^{t}\approx\omega_k^t+\Delta\theta_k \cdot \eta_k&#10;$$&#10;&#10;&#10;\end{document}"/>
  <p:tag name="IGUANATEXSIZE" val="28"/>
  <p:tag name="IGUANATEXCURSOR" val="17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965.1294"/>
  <p:tag name="OUTPUTTYPE" val="PNG"/>
  <p:tag name="IGUANATEXVERSION" val="162"/>
  <p:tag name="LATEXADDIN" val="\documentclass{article}&#10;\usepackage{amsmath}&#10;\usepackage{amssymb}&#10;\pagestyle{empty}&#10;\begin{document}&#10;&#10;$$ &#10;\mathbb{E}(\hat{\omega}_{k}^{t})=\omega_k^t+\gamma \sigma^2&#10;$$&#10;&#10;&#10;\end{document}"/>
  <p:tag name="IGUANATEXSIZE" val="28"/>
  <p:tag name="IGUANATEXCURSOR" val="15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7.2291"/>
  <p:tag name="ORIGINALWIDTH" val=" 922.3847"/>
  <p:tag name="OUTPUTTYPE" val="PNG"/>
  <p:tag name="IGUANATEXVERSION" val="162"/>
  <p:tag name="LATEXADDIN" val="\documentclass{article}&#10;\usepackage{amsmath}&#10;\usepackage{amssymb}&#10;\pagestyle{empty}&#10;\begin{document}&#10;&#10;$$\hat{\omega}_{corr}=\hat{\omega^t_k}-\gamma\hat{\sigma}^2 $$&#10;&#10;&#10;\end{document}"/>
  <p:tag name="IGUANATEXSIZE" val="28"/>
  <p:tag name="IGUANATEXCURSOR" val="16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747.282"/>
  <p:tag name="OUTPUTTYPE" val="PNG"/>
  <p:tag name="IGUANATEXVERSION" val="162"/>
  <p:tag name="LATEXADDIN" val="\documentclass{article}&#10;\usepackage{amsmath}&#10;\usepackage{amssymb}&#10;\pagestyle{empty}&#10;\begin{document}&#10;&#10;$$Var(\eta)=Var(g-g^*)=Var(g)$$&#10;&#10;&#10;\end{document}"/>
  <p:tag name="IGUANATEXSIZE" val="28"/>
  <p:tag name="IGUANATEXCURSOR" val="13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2.9547"/>
  <p:tag name="ORIGINALWIDTH" val=" 714.6606"/>
  <p:tag name="OUTPUTTYPE" val="PNG"/>
  <p:tag name="IGUANATEXVERSION" val="162"/>
  <p:tag name="LATEXADDIN" val="\documentclass{article}&#10;\usepackage{amsmath}&#10;\usepackage{amssymb}&#10;\pagestyle{empty}&#10;\begin{document}&#10;&#10;$$g=\frac 1 B \sum_{i=1}^BX_i $$&#10;&#10;&#10;\end{document}"/>
  <p:tag name="IGUANATEXSIZE" val="28"/>
  <p:tag name="IGUANATEXCURSOR" val="13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2.7184"/>
  <p:tag name="ORIGINALWIDTH" val=" 2389.951"/>
  <p:tag name="OUTPUTTYPE" val="PNG"/>
  <p:tag name="IGUANATEXVERSION" val="162"/>
  <p:tag name="LATEXADDIN" val="\documentclass{article}&#10;\usepackage{amsmath}&#10;\usepackage{amssymb}&#10;\pagestyle{empty}&#10;\begin{document}&#10;&#10;$$\Rightarrow Var(g)=\frac{1}{B^2}\cdot B\cdot Var(X_i)=\frac 1 B Var(X_i) $$&#10;&#10;&#10;\end{document}"/>
  <p:tag name="IGUANATEXSIZE" val="28"/>
  <p:tag name="IGUANATEXCURSOR" val="16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4.237"/>
  <p:tag name="ORIGINALWIDTH" val=" 131.2336"/>
  <p:tag name="OUTPUTTYPE" val="PNG"/>
  <p:tag name="IGUANATEXVERSION" val="162"/>
  <p:tag name="LATEXADDIN" val="\documentclass{article}&#10;\usepackage{amsmath}&#10;\usepackage{amssymb}&#10;\pagestyle{empty}&#10;\begin{document}&#10;&#10;$$X_i $$&#10;&#10;&#10;\end{document}"/>
  <p:tag name="IGUANATEXSIZE" val="28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2.9547"/>
  <p:tag name="ORIGINALWIDTH" val=" 1814.023"/>
  <p:tag name="OUTPUTTYPE" val="PNG"/>
  <p:tag name="IGUANATEXVERSION" val="162"/>
  <p:tag name="LATEXADDIN" val="\documentclass{article}&#10;\usepackage{amsmath}&#10;\usepackage{amssymb}&#10;\pagestyle{empty}&#10;\begin{document}&#10;&#10;$$s_X^2=\frac{1}{B-1}\sum_{i=1}^B(X_i-\bar{X})^2, \bar{X}=g $$&#10;&#10;&#10;\end{document}"/>
  <p:tag name="IGUANATEXSIZE" val="28"/>
  <p:tag name="IGUANATEXCURSOR" val="15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4.237"/>
  <p:tag name="ORIGINALWIDTH" val=" 131.2336"/>
  <p:tag name="OUTPUTTYPE" val="PNG"/>
  <p:tag name="IGUANATEXVERSION" val="162"/>
  <p:tag name="LATEXADDIN" val="\documentclass{article}&#10;\usepackage{amsmath}&#10;\usepackage{amssymb}&#10;\pagestyle{empty}&#10;\begin{document}&#10;&#10;$$X_i $$&#10;&#10;&#10;\end{document}"/>
  <p:tag name="IGUANATEXSIZE" val="28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4.7169"/>
  <p:tag name="ORIGINALWIDTH" val=" 3353.581"/>
  <p:tag name="OUTPUTTYPE" val="PNG"/>
  <p:tag name="IGUANATEXVERSION" val="162"/>
  <p:tag name="LATEXADDIN" val="\documentclass{article}&#10;\usepackage{amsmath}&#10;\usepackage{amssymb}&#10;\pagestyle{empty}&#10;\begin{document}&#10;&#10;$$g^{(m)}=\frac{1}{b}\sum X_i, Var(g^{(m)})=\frac{Var(X_i)}{b}=M\frac{Var(X_i)}{B}=M\sigma^2 $$&#10;&#10;&#10;\end{document}"/>
  <p:tag name="IGUANATEXSIZE" val="28"/>
  <p:tag name="IGUANATEXCURSOR" val="18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1.4548"/>
  <p:tag name="ORIGINALWIDTH" val=" 1483.315"/>
  <p:tag name="OUTPUTTYPE" val="PNG"/>
  <p:tag name="IGUANATEXVERSION" val="162"/>
  <p:tag name="LATEXADDIN" val="\documentclass{article}&#10;\usepackage{amsmath}&#10;\usepackage{amssymb}&#10;\pagestyle{empty}&#10;\begin{document}&#10;&#10;$$s_g^2=\frac{1}{M-1}\sum_{m=1}^M(g^{(m)}-g)^2 $$&#10;&#10;&#10;\end{document}"/>
  <p:tag name="IGUANATEXSIZE" val="28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0.9861"/>
  <p:tag name="ORIGINALWIDTH" val=" 249.7188"/>
  <p:tag name="OUTPUTTYPE" val="PNG"/>
  <p:tag name="IGUANATEXVERSION" val="162"/>
  <p:tag name="LATEXADDIN" val="\documentclass{article}&#10;\usepackage{amsmath}&#10;\usepackage{amssymb}&#10;\pagestyle{empty}&#10;\begin{document}&#10;&#10;$$M\sigma^2 $$&#10;&#10;&#10;\end{document}"/>
  <p:tag name="IGUANATEXSIZE" val="28"/>
  <p:tag name="IGUANATEXCURSOR" val="11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4.9644"/>
  <p:tag name="ORIGINALWIDTH" val=" 442.4447"/>
  <p:tag name="OUTPUTTYPE" val="PNG"/>
  <p:tag name="IGUANATEXVERSION" val="162"/>
  <p:tag name="LATEXADDIN" val="\documentclass{article}&#10;\usepackage{amsmath}&#10;\usepackage{amssymb}&#10;\pagestyle{empty}&#10;\begin{document}&#10;&#10;$$ \hat{\sigma}^2=\frac{s^2_g}{M}$$&#10;&#10;&#10;\end{document}"/>
  <p:tag name="IGUANATEXSIZE" val="28"/>
  <p:tag name="IGUANATEXCURSOR" val="11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2.9547"/>
  <p:tag name="ORIGINALWIDTH" val=" 1814.023"/>
  <p:tag name="OUTPUTTYPE" val="PNG"/>
  <p:tag name="IGUANATEXVERSION" val="162"/>
  <p:tag name="LATEXADDIN" val="\documentclass{article}&#10;\usepackage{amsmath}&#10;\usepackage{amssymb}&#10;\pagestyle{empty}&#10;\begin{document}&#10;&#10;$$s_X^2=\frac{1}{B-1}\sum_{i=1}^B(X_i-\bar{X})^2, \bar{X}=g $$&#10;&#10;&#10;\end{document}"/>
  <p:tag name="IGUANATEXSIZE" val="28"/>
  <p:tag name="IGUANATEXCURSOR" val="15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4.237"/>
  <p:tag name="ORIGINALWIDTH" val=" 131.2336"/>
  <p:tag name="OUTPUTTYPE" val="PNG"/>
  <p:tag name="IGUANATEXVERSION" val="162"/>
  <p:tag name="LATEXADDIN" val="\documentclass{article}&#10;\usepackage{amsmath}&#10;\usepackage{amssymb}&#10;\pagestyle{empty}&#10;\begin{document}&#10;&#10;$$X_i $$&#10;&#10;&#10;\end{document}"/>
  <p:tag name="IGUANATEXSIZE" val="28"/>
  <p:tag name="IGUANATEXCURSOR" val="10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4.7169"/>
  <p:tag name="ORIGINALWIDTH" val=" 3353.581"/>
  <p:tag name="OUTPUTTYPE" val="PNG"/>
  <p:tag name="IGUANATEXVERSION" val="162"/>
  <p:tag name="LATEXADDIN" val="\documentclass{article}&#10;\usepackage{amsmath}&#10;\usepackage{amssymb}&#10;\pagestyle{empty}&#10;\begin{document}&#10;&#10;$$g^{(m)}=\frac{1}{b}\sum X_i, Var(g^{(m)})=\frac{Var(X_i)}{b}=M\frac{Var(X_i)}{B}=M\sigma^2 $$&#10;&#10;&#10;\end{document}"/>
  <p:tag name="IGUANATEXSIZE" val="28"/>
  <p:tag name="IGUANATEXCURSOR" val="18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1.4548"/>
  <p:tag name="ORIGINALWIDTH" val=" 1483.315"/>
  <p:tag name="OUTPUTTYPE" val="PNG"/>
  <p:tag name="IGUANATEXVERSION" val="162"/>
  <p:tag name="LATEXADDIN" val="\documentclass{article}&#10;\usepackage{amsmath}&#10;\usepackage{amssymb}&#10;\pagestyle{empty}&#10;\begin{document}&#10;&#10;$$s_g^2=\frac{1}{M-1}\sum_{m=1}^M(g^{(m)}-g)^2 $$&#10;&#10;&#10;\end{document}"/>
  <p:tag name="IGUANATEXSIZE" val="28"/>
  <p:tag name="IGUANATEXCURSOR" val="13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0.9861"/>
  <p:tag name="ORIGINALWIDTH" val=" 249.7188"/>
  <p:tag name="OUTPUTTYPE" val="PNG"/>
  <p:tag name="IGUANATEXVERSION" val="162"/>
  <p:tag name="LATEXADDIN" val="\documentclass{article}&#10;\usepackage{amsmath}&#10;\usepackage{amssymb}&#10;\pagestyle{empty}&#10;\begin{document}&#10;&#10;$$M\sigma^2 $$&#10;&#10;&#10;\end{document}"/>
  <p:tag name="IGUANATEXSIZE" val="28"/>
  <p:tag name="IGUANATEXCURSOR" val="11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4.9644"/>
  <p:tag name="ORIGINALWIDTH" val=" 442.4447"/>
  <p:tag name="OUTPUTTYPE" val="PNG"/>
  <p:tag name="IGUANATEXVERSION" val="162"/>
  <p:tag name="LATEXADDIN" val="\documentclass{article}&#10;\usepackage{amsmath}&#10;\usepackage{amssymb}&#10;\pagestyle{empty}&#10;\begin{document}&#10;&#10;$$ \hat{\sigma}^2=\frac{s^2_g}{M}$$&#10;&#10;&#10;\end{document}"/>
  <p:tag name="IGUANATEXSIZE" val="28"/>
  <p:tag name="IGUANATEXCURSOR" val="11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7.2291"/>
  <p:tag name="ORIGINALWIDTH" val=" 2899.887"/>
  <p:tag name="OUTPUTTYPE" val="PNG"/>
  <p:tag name="IGUANATEXVERSION" val="162"/>
  <p:tag name="LATEXADDIN" val="\documentclass{article}&#10;\usepackage{amsmath}&#10;\usepackage{amssymb}&#10;\pagestyle{empty}&#10;\begin{document}&#10;&#10;$$\hat{\omega}_{corr}=\hat{\omega^t_k}-\gamma\hat{\sigma}^2, \hat{\sigma}^2=\sigma^2+\epsilon, \mathbb{E}(\epsilon)=b_{\sigma}, Var(\epsilon)=\tau^2 $$&#10;&#10;&#10;\end{document}"/>
  <p:tag name="IGUANATEXSIZE" val="28"/>
  <p:tag name="IGUANATEXCURSOR" val="22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1244.844"/>
  <p:tag name="OUTPUTTYPE" val="PNG"/>
  <p:tag name="IGUANATEXVERSION" val="162"/>
  <p:tag name="LATEXADDIN" val="\documentclass{article}&#10;\usepackage{amsmath}&#10;\usepackage{amssymb}&#10;\pagestyle{empty}&#10;\begin{document}&#10;&#10;$$\hat{\omega}_k^t=\omega_k^t+\gamma g_k^* \eta_k + \gamma \eta_k^2 $$&#10;&#10;&#10;\end{document}"/>
  <p:tag name="IGUANATEXSIZE" val="28"/>
  <p:tag name="IGUANATEXCURSOR" val="1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1889.764"/>
  <p:tag name="OUTPUTTYPE" val="PNG"/>
  <p:tag name="IGUANATEXVERSION" val="162"/>
  <p:tag name="LATEXADDIN" val="\documentclass{article}&#10;\usepackage{amsmath}&#10;\usepackage{amssymb}&#10;\pagestyle{empty}&#10;\begin{document}&#10;&#10;$$\Rightarrow \hat{\omega}_{corr}=\omega_k^t+\gamma g_k^* \eta_k + \gamma \eta_k^2-\gamma\hat{\sigma}^2 $$&#10;&#10;&#10;\end{document}"/>
  <p:tag name="IGUANATEXSIZE" val="28"/>
  <p:tag name="IGUANATEXCURSOR" val="20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2689.914"/>
  <p:tag name="OUTPUTTYPE" val="PNG"/>
  <p:tag name="IGUANATEXVERSION" val="162"/>
  <p:tag name="LATEXADDIN" val="\documentclass{article}&#10;\usepackage{amsmath}&#10;\usepackage{amssymb}&#10;\pagestyle{empty}&#10;\begin{document}&#10;&#10;$$\mathbb{E}(\hat{\omega}_{corr})=\omega_k^t+0+\gamma\sigma^2-\gamma(\sigma^2+b_{\sigma})=\omega_k^t-\gamma b_{\sigma} $$&#10;&#10;&#10;\end{document}"/>
  <p:tag name="IGUANATEXSIZE" val="28"/>
  <p:tag name="IGUANATEXCURSOR" val="22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5.7368"/>
  <p:tag name="ORIGINALWIDTH" val=" 338.9576"/>
  <p:tag name="OUTPUTTYPE" val="PNG"/>
  <p:tag name="IGUANATEXVERSION" val="162"/>
  <p:tag name="LATEXADDIN" val="\documentclass{article}&#10;\usepackage{amsmath}&#10;\usepackage{amssymb}&#10;\pagestyle{empty}&#10;\begin{document}&#10;&#10;$$b_{\sigma}=0 $$&#10;&#10;&#10;\end{document}"/>
  <p:tag name="IGUANATEXSIZE" val="28"/>
  <p:tag name="IGUANATEXCURSOR" val="117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0.9824"/>
  <p:tag name="ORIGINALWIDTH" val=" 2490.439"/>
  <p:tag name="OUTPUTTYPE" val="PNG"/>
  <p:tag name="IGUANATEXVERSION" val="162"/>
  <p:tag name="LATEXADDIN" val="\documentclass{article}&#10;\usepackage{amsmath}&#10;\usepackage{amssymb}&#10;\pagestyle{empty}&#10;\begin{document}&#10;&#10;$$Var(\hat{\omega}_{corr}-\omega_k^t)=\gamma^2 Var(g_k^*\eta_k+\eta_k^2-\sigma^2-\epsilon) $$&#10;&#10;&#10;\end{document}"/>
  <p:tag name="IGUANATEXSIZE" val="28"/>
  <p:tag name="IGUANATEXCURSOR" val="13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4155.23"/>
  <p:tag name="OUTPUTTYPE" val="PNG"/>
  <p:tag name="IGUANATEXVERSION" val="162"/>
  <p:tag name="LATEXADDIN" val="\documentclass{article}&#10;\usepackage{amsmath}&#10;\usepackage{amssymb}&#10;\pagestyle{empty}&#10;\begin{document}&#10;&#10;$$=\gamma^2((g_k^*)^2\sigma^2+(\mathbb{E}(\eta_k^4)-\sigma^4)+\tau^2+2g_k^*\mathbb{E}(\eta_k^3)-2g_k^*Cov(\eta_k, \epsilon)-2Cov(\eta_k^2,\eta)) $$&#10;&#10;&#10;\end{document}"/>
  <p:tag name="IGUANATEXSIZE" val="28"/>
  <p:tag name="IGUANATEXCURSOR" val="15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1.73976"/>
  <p:tag name="ORIGINALWIDTH" val=" 107.9865"/>
  <p:tag name="OUTPUTTYPE" val="PNG"/>
  <p:tag name="IGUANATEXVERSION" val="162"/>
  <p:tag name="LATEXADDIN" val="\documentclass{article}&#10;\usepackage{amsmath}&#10;\usepackage{amssymb}&#10;\pagestyle{empty}&#10;\begin{document}&#10;&#10;$$\eta_k $$&#10;&#10;&#10;\end{document}"/>
  <p:tag name="IGUANATEXSIZE" val="28"/>
  <p:tag name="IGUANATEXCURSOR" val="1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1238.095"/>
  <p:tag name="OUTPUTTYPE" val="PNG"/>
  <p:tag name="IGUANATEXVERSION" val="162"/>
  <p:tag name="LATEXADDIN" val="\documentclass{article}&#10;\usepackage{amsmath}&#10;\usepackage{amssymb}&#10;\pagestyle{empty}&#10;\begin{document}&#10;&#10;$$\mathbb{E}(\eta_k^3)=0, \mathbb{E}(\eta_k^4)=3\sigma^4 $$&#10;&#10;&#10;\end{document}"/>
  <p:tag name="IGUANATEXSIZE" val="28"/>
  <p:tag name="IGUANATEXCURSOR" val="15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2287.214"/>
  <p:tag name="OUTPUTTYPE" val="PNG"/>
  <p:tag name="IGUANATEXVERSION" val="162"/>
  <p:tag name="LATEXADDIN" val="\documentclass{article}&#10;\usepackage{amsmath}&#10;\usepackage{amssymb}&#10;\pagestyle{empty}&#10;\begin{document}&#10;&#10;$$Var(\hat{\omega}_{corr}-\omega_k^t)=\gamma^2((g_k^*)^2\sigma^2+2\sigma^4+\tau^2) $$&#10;&#10;&#10;\end{document}"/>
  <p:tag name="IGUANATEXSIZE" val="28"/>
  <p:tag name="IGUANATEXCURSOR" val="1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5.49307"/>
  <p:tag name="ORIGINALWIDTH" val=" 41.99472"/>
  <p:tag name="OUTPUTTYPE" val="PNG"/>
  <p:tag name="IGUANATEXVERSION" val="162"/>
  <p:tag name="LATEXADDIN" val="\documentclass{article}&#10;\usepackage{amsmath}&#10;\usepackage{amssymb}&#10;\pagestyle{empty}&#10;\begin{document}&#10;&#10;$$\epsilon $$&#10;&#10;&#10;\end{document}"/>
  <p:tag name="IGUANATEXSIZE" val="28"/>
  <p:tag name="IGUANATEXCURSOR" val="11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0.9861"/>
  <p:tag name="ORIGINALWIDTH" val=" 175.478"/>
  <p:tag name="OUTPUTTYPE" val="PNG"/>
  <p:tag name="IGUANATEXVERSION" val="162"/>
  <p:tag name="LATEXADDIN" val="\documentclass{article}&#10;\usepackage{amsmath}&#10;\usepackage{amssymb}&#10;\pagestyle{empty}&#10;\begin{document}&#10;&#10;$$2\sigma^2 $$&#10;&#10;&#10;\end{document}"/>
  <p:tag name="IGUANATEXSIZE" val="28"/>
  <p:tag name="IGUANATEXCURSOR" val="11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3512.561"/>
  <p:tag name="OUTPUTTYPE" val="PNG"/>
  <p:tag name="IGUANATEXVERSION" val="162"/>
  <p:tag name="LATEXADDIN" val="\documentclass{article}&#10;\usepackage{amsmath}&#10;\usepackage{amssymb}&#10;\pagestyle{empty}&#10;\begin{document}&#10;&#10;$$Var(\hat{\omega}_{double}-\omega_k^t)=\gamma^2((g^*_k)^2(2\sigma^2)+(2\sigma^2)^2=\gamma(2(g^*_k)^2\sigma^2+4\sigma^4) $$&#10;&#10;&#10;\end{document}"/>
  <p:tag name="IGUANATEXSIZE" val="28"/>
  <p:tag name="IGUANATEXCURSOR" val="12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2287.214"/>
  <p:tag name="OUTPUTTYPE" val="PNG"/>
  <p:tag name="IGUANATEXVERSION" val="162"/>
  <p:tag name="LATEXADDIN" val="\documentclass{article}&#10;\usepackage{amsmath}&#10;\usepackage{amssymb}&#10;\pagestyle{empty}&#10;\begin{document}&#10;&#10;$$Var(\hat{\omega}_{corr}-\omega_k^t)=\gamma^2((g_k^*)^2\sigma^2+2\sigma^4+\tau^2) $$&#10;&#10;&#10;\end{document}"/>
  <p:tag name="IGUANATEXSIZE" val="28"/>
  <p:tag name="IGUANATEXCURSOR" val="1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3522.31"/>
  <p:tag name="OUTPUTTYPE" val="PNG"/>
  <p:tag name="IGUANATEXVERSION" val="162"/>
  <p:tag name="LATEXADDIN" val="\documentclass{article}&#10;\usepackage{amsmath}&#10;\usepackage{amssymb}&#10;\pagestyle{empty}&#10;\begin{document}&#10;&#10;$$\Rightarrow Var(\hat{\omega}_{double}-\omega_k^t)-Var(\hat{\omega}_{corr}-\omega_k^t)=\gamma((g^*_k)^2\sigma^2+2\sigma^4-\tau^2) $$&#10;&#10;&#10;\end{document}"/>
  <p:tag name="IGUANATEXSIZE" val="28"/>
  <p:tag name="IGUANATEXCURSOR" val="23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1028.871"/>
  <p:tag name="OUTPUTTYPE" val="PNG"/>
  <p:tag name="IGUANATEXVERSION" val="162"/>
  <p:tag name="LATEXADDIN" val="\documentclass{article}&#10;\usepackage{amsmath}&#10;\usepackage{amssymb}&#10;\pagestyle{empty}&#10;\begin{document}&#10;&#10;$$\tau^2&lt;(g^*_k)^2\sigma^2+2\sigma^4 $$&#10;&#10;&#10;\end{document}"/>
  <p:tag name="IGUANATEXSIZE" val="28"/>
  <p:tag name="IGUANATEXCURSOR" val="13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4.9644"/>
  <p:tag name="ORIGINALWIDTH" val=" 3028.871"/>
  <p:tag name="OUTPUTTYPE" val="PNG"/>
  <p:tag name="IGUANATEXVERSION" val="162"/>
  <p:tag name="LATEXADDIN" val="\documentclass{article}&#10;\usepackage{amsmath}&#10;\usepackage{amssymb}&#10;\pagestyle{empty}&#10;\begin{document}&#10;&#10;$$\tau^2=Var(\epsilon)=Var(\hat\sigma^2-\sigma^2)=Var(\frac{s_g^2}{M})=\frac 1 {M^2} Var(s^2_g) $$&#10;&#10;&#10;\end{document}"/>
  <p:tag name="IGUANATEXSIZE" val="28"/>
  <p:tag name="IGUANATEXCURSOR" val="18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8.4814"/>
  <p:tag name="ORIGINALWIDTH" val=" 1040.87"/>
  <p:tag name="OUTPUTTYPE" val="PNG"/>
  <p:tag name="IGUANATEXVERSION" val="162"/>
  <p:tag name="LATEXADDIN" val="\documentclass{article}&#10;\usepackage{amsmath}&#10;\usepackage{amssymb}&#10;\pagestyle{empty}&#10;\begin{document}&#10;&#10;$$g^{(m)}\sim N(g^*, M\sigma^2) $$&#10;&#10;&#10;\end{document}"/>
  <p:tag name="IGUANATEXSIZE" val="28"/>
  <p:tag name="IGUANATEXCURSOR" val="11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6.4642"/>
  <p:tag name="ORIGINALWIDTH" val=" 1043.87"/>
  <p:tag name="OUTPUTTYPE" val="PNG"/>
  <p:tag name="IGUANATEXVERSION" val="162"/>
  <p:tag name="LATEXADDIN" val="\documentclass{article}&#10;\usepackage{amsmath}&#10;\usepackage{amssymb}&#10;\pagestyle{empty}&#10;\begin{document}&#10;&#10;$$\frac{(M-1)s_g^2}{M\sigma^2}\sim\chi_{M-1}^2 $$&#10;&#10;&#10;\end{document}"/>
  <p:tag name="IGUANATEXSIZE" val="28"/>
  <p:tag name="IGUANATEXCURSOR" val="14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489.6888"/>
  <p:tag name="OUTPUTTYPE" val="PNG"/>
  <p:tag name="IGUANATEXVERSION" val="162"/>
  <p:tag name="LATEXADDIN" val="\documentclass{article}&#10;\usepackage{amsmath}&#10;\usepackage{amssymb}&#10;\pagestyle{empty}&#10;\begin{document}&#10;&#10;$$2(M-1) $$&#10;&#10;&#10;\end{document}"/>
  <p:tag name="IGUANATEXSIZE" val="28"/>
  <p:tag name="IGUANATEXCURSOR" val="110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3.7158"/>
  <p:tag name="ORIGINALWIDTH" val=" 2291.714"/>
  <p:tag name="OUTPUTTYPE" val="PNG"/>
  <p:tag name="IGUANATEXVERSION" val="162"/>
  <p:tag name="LATEXADDIN" val="\documentclass{article}&#10;\usepackage{amsmath}&#10;\usepackage{amssymb}&#10;\pagestyle{empty}&#10;\begin{document}&#10;&#10;$$Var(s_g^2)=(\frac{M\sigma^2}{M-1})^2\cdot2(M-1)=\frac{2M^2\sigma^4}{M-1} $$&#10;&#10;&#10;\end{document}"/>
  <p:tag name="IGUANATEXSIZE" val="28"/>
  <p:tag name="IGUANATEXCURSOR" val="17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3.7158"/>
  <p:tag name="ORIGINALWIDTH" val=" 1476.565"/>
  <p:tag name="OUTPUTTYPE" val="PNG"/>
  <p:tag name="IGUANATEXVERSION" val="162"/>
  <p:tag name="LATEXADDIN" val="\documentclass{article}&#10;\usepackage{amsmath}&#10;\usepackage{amssymb}&#10;\pagestyle{empty}&#10;\begin{document}&#10;&#10;$$\tau^2=\frac 1 {M^2} Var(s_g^2)=\frac{2\sigma^4}{M-1}$$&#10;&#10;&#10;\end{document}"/>
  <p:tag name="IGUANATEXSIZE" val="28"/>
  <p:tag name="IGUANATEXCURSOR" val="12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1028.871"/>
  <p:tag name="OUTPUTTYPE" val="PNG"/>
  <p:tag name="IGUANATEXVERSION" val="162"/>
  <p:tag name="LATEXADDIN" val="\documentclass{article}&#10;\usepackage{amsmath}&#10;\usepackage{amssymb}&#10;\pagestyle{empty}&#10;\begin{document}&#10;&#10;$$\tau^2&lt;(g^*_k)^2\sigma^2+2\sigma^4 $$&#10;&#10;&#10;\end{document}"/>
  <p:tag name="IGUANATEXSIZE" val="28"/>
  <p:tag name="IGUANATEXCURSOR" val="13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1.9872"/>
  <p:tag name="ORIGINALWIDTH" val=" 351.7061"/>
  <p:tag name="OUTPUTTYPE" val="PNG"/>
  <p:tag name="IGUANATEXVERSION" val="162"/>
  <p:tag name="LATEXADDIN" val="\documentclass{article}&#10;\usepackage{amsmath}&#10;\usepackage{amssymb}&#10;\pagestyle{empty}&#10;\begin{document}&#10;&#10;$$M\ge 2 $$&#10;&#10;&#10;\end{document}"/>
  <p:tag name="IGUANATEXSIZE" val="28"/>
  <p:tag name="IGUANATEXCURSOR" val="10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1180</Words>
  <Application>Microsoft Office PowerPoint</Application>
  <PresentationFormat>宽屏</PresentationFormat>
  <Paragraphs>110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WPS</vt:lpstr>
      <vt:lpstr>4.19讨论</vt:lpstr>
      <vt:lpstr>数值积分方法</vt:lpstr>
      <vt:lpstr>高斯积分法</vt:lpstr>
      <vt:lpstr>原理：正交多项式</vt:lpstr>
      <vt:lpstr>积分近似</vt:lpstr>
      <vt:lpstr>选取采样点</vt:lpstr>
      <vt:lpstr>计算效果</vt:lpstr>
      <vt:lpstr>实验</vt:lpstr>
      <vt:lpstr>参数过估计问题</vt:lpstr>
      <vt:lpstr>过估计量的计算</vt:lpstr>
      <vt:lpstr>双采样法</vt:lpstr>
      <vt:lpstr>局限性</vt:lpstr>
      <vt:lpstr>可能有效的矫正策略</vt:lpstr>
      <vt:lpstr>方差估计</vt:lpstr>
      <vt:lpstr>方差估计</vt:lpstr>
      <vt:lpstr>矫正效果</vt:lpstr>
      <vt:lpstr>与双采样的比较</vt:lpstr>
      <vt:lpstr>microbatch的方差估计的方差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Loong Chen</cp:lastModifiedBy>
  <cp:revision>12</cp:revision>
  <dcterms:created xsi:type="dcterms:W3CDTF">2023-08-09T12:44:00Z</dcterms:created>
  <dcterms:modified xsi:type="dcterms:W3CDTF">2026-04-18T09:29:02Z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D946F3EE9C194215A8E8FC4A30AE36A0_12</vt:lpwstr>
  </property>
</Properties>
</file>